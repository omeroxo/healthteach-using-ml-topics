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062" y="678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4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" name="Google Shape;94;p1:notes"/>
          <p:cNvSpPr txBox="1"/>
          <p:nvPr/>
        </p:nvSpPr>
        <p:spPr>
          <a:xfrm>
            <a:off x="685187" y="4342939"/>
            <a:ext cx="548609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75" tIns="42175" rIns="84375" bIns="42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747605" y="1958239"/>
            <a:ext cx="10696800" cy="1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6576" rIns="36576" bIns="36576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  <a:buSzPts val="3600"/>
              <a:buFont typeface="Calibri" panose="020F0502020204030204"/>
              <a:buNone/>
            </a:pPr>
            <a:r>
              <a:rPr sz="1800" b="1" i="0">
                <a:solidFill>
                  <a:srgbClr val="192B3D"/>
                </a:solidFill>
                <a:latin typeface="Arial"/>
              </a:rPr>
              <a:t>DEPARTMENT OF ARTIFICIAL INTELLIGENCE AND DATA SCIENCE</a:t>
            </a:r>
            <a:endParaRPr sz="1200" b="0" i="0" u="none" strike="noStrike" cap="none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92B3D"/>
                </a:solidFill>
                <a:latin typeface="Arial"/>
              </a:rPr>
              <a:t>BE VII Semester</a:t>
            </a:r>
          </a:p>
        </p:txBody>
      </p:sp>
      <p:sp>
        <p:nvSpPr>
          <p:cNvPr id="99" name="Google Shape;99;p14"/>
          <p:cNvSpPr txBox="1"/>
          <p:nvPr/>
        </p:nvSpPr>
        <p:spPr>
          <a:xfrm>
            <a:off x="2038350" y="3355613"/>
            <a:ext cx="8115300" cy="15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rIns="4572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2000"/>
              <a:buFont typeface="Calibri" panose="020F0502020204030204"/>
              <a:buNone/>
            </a:pPr>
            <a:r>
              <a:rPr sz="2100" b="1" i="0">
                <a:solidFill>
                  <a:srgbClr val="123B67"/>
                </a:solidFill>
                <a:latin typeface="Georgia"/>
              </a:rPr>
              <a:t>Mini Project Seminar</a:t>
            </a:r>
            <a:endParaRPr sz="1200" i="0" u="none" strike="noStrike" cap="none" dirty="0">
              <a:solidFill>
                <a:srgbClr val="000000"/>
              </a:solidFill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algn="ctr">
              <a:spcAft>
                <a:spcPts val="500"/>
              </a:spcAft>
            </a:pPr>
            <a:r>
              <a:rPr sz="2100" b="1" i="0">
                <a:solidFill>
                  <a:srgbClr val="123B67"/>
                </a:solidFill>
                <a:latin typeface="Georgia"/>
              </a:rPr>
              <a:t>“Drug Interaction and Adverse-Effect Predictor”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6957060" y="4865813"/>
            <a:ext cx="5010090" cy="16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54864" rIns="54864" bIns="54864" anchor="ctr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2000"/>
              <a:buFont typeface="Calibri" panose="020F0502020204030204"/>
              <a:buNone/>
            </a:pPr>
            <a:r>
              <a:rPr sz="1300" b="1" i="0" dirty="0">
                <a:solidFill>
                  <a:srgbClr val="192B3D"/>
                </a:solidFill>
                <a:latin typeface="Arial"/>
              </a:rPr>
              <a:t>Presented By:</a:t>
            </a:r>
            <a:endParaRPr lang="en-US" sz="1600" b="1" i="0" u="none" strike="noStrike" cap="none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r">
              <a:spcAft>
                <a:spcPts val="500"/>
              </a:spcAft>
            </a:pPr>
            <a:r>
              <a:rPr lang="en-IN" sz="1300" b="1" i="0" dirty="0">
                <a:solidFill>
                  <a:srgbClr val="192B3D"/>
                </a:solidFill>
                <a:latin typeface="Arial"/>
              </a:rPr>
              <a:t>Aditya Koparkar, </a:t>
            </a:r>
            <a:r>
              <a:rPr sz="1300" b="1" i="0" dirty="0">
                <a:solidFill>
                  <a:srgbClr val="192B3D"/>
                </a:solidFill>
                <a:latin typeface="Arial"/>
              </a:rPr>
              <a:t>Omer Ovias</a:t>
            </a:r>
            <a:r>
              <a:rPr lang="en-IN" sz="1300" b="1" i="0" dirty="0">
                <a:solidFill>
                  <a:srgbClr val="192B3D"/>
                </a:solidFill>
                <a:latin typeface="Arial"/>
              </a:rPr>
              <a:t>, Khalid Jalal &amp; Adil </a:t>
            </a:r>
            <a:r>
              <a:rPr lang="en-IN" sz="1300" b="1" i="0" dirty="0" err="1">
                <a:solidFill>
                  <a:srgbClr val="192B3D"/>
                </a:solidFill>
                <a:latin typeface="Arial"/>
              </a:rPr>
              <a:t>Arkate</a:t>
            </a:r>
            <a:endParaRPr sz="1300" b="1" i="0" dirty="0">
              <a:solidFill>
                <a:srgbClr val="192B3D"/>
              </a:solidFill>
              <a:latin typeface="Arial"/>
            </a:endParaRPr>
          </a:p>
          <a:p>
            <a:pPr algn="r">
              <a:spcAft>
                <a:spcPts val="500"/>
              </a:spcAft>
            </a:pPr>
            <a:r>
              <a:rPr sz="1300" b="1" i="0" dirty="0">
                <a:solidFill>
                  <a:srgbClr val="192B3D"/>
                </a:solidFill>
                <a:latin typeface="Arial"/>
              </a:rPr>
              <a:t>Under the guidance of Prof. Gayatri Satpute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556000" y="87630"/>
            <a:ext cx="6329680" cy="953135"/>
          </a:xfrm>
          <a:prstGeom prst="rect">
            <a:avLst/>
          </a:prstGeom>
        </p:spPr>
        <p:txBody>
          <a:bodyPr wrap="square" lIns="18288" tIns="18288" rIns="18288" bIns="18288" anchor="ctr">
            <a:spAutoFit/>
          </a:bodyPr>
          <a:lstStyle/>
          <a:p>
            <a:pPr marL="0" indent="0" algn="ctr">
              <a:spcAft>
                <a:spcPts val="500"/>
              </a:spcAft>
            </a:pPr>
            <a:r>
              <a:rPr sz="2800" b="1" i="0">
                <a:solidFill>
                  <a:srgbClr val="155397"/>
                </a:solidFill>
                <a:latin typeface="Georgia"/>
              </a:rPr>
              <a:t>SIES GRADUATE SCHOOL OF TECHNOLOGY</a:t>
            </a:r>
            <a:endParaRPr sz="2800" b="1" i="0">
              <a:solidFill>
                <a:srgbClr val="014DA1"/>
              </a:solidFill>
              <a:latin typeface="Times New Roman" panose="02020603050405020304" pitchFamily="18" charset="0"/>
              <a:ea typeface="Merriweather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6945"/>
            <a:ext cx="1845945" cy="8210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400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17320"/>
            <a:ext cx="67665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1. 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30552"/>
            <a:ext cx="67665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2. 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43784"/>
            <a:ext cx="67665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3. 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57015"/>
            <a:ext cx="67665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4. 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70248"/>
            <a:ext cx="67665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5. 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983480"/>
            <a:ext cx="67665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6.  REFERENCES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32004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99632"/>
            <a:ext cx="135331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72768" y="6528816"/>
            <a:ext cx="10168128" cy="16459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8832" y="63276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26275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5349240" cy="2057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73152" cy="2057400"/>
          </a:xfrm>
          <a:prstGeom prst="rect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16152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581912"/>
            <a:ext cx="5056631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Medication combinations can create interactions or change adverse-effect risk. Manually cross-checking fragmented sources is slow, and missing database records do not prove safety.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2057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2057400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216152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81912"/>
            <a:ext cx="5056631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Merge public biomedical data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Predict interaction probability, type and side effects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Rank concerns and show supporting paths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Provide an inspectable web 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2423160" cy="822960"/>
          </a:xfrm>
          <a:prstGeom prst="rect">
            <a:avLst/>
          </a:prstGeom>
          <a:solidFill>
            <a:srgbClr val="F1F7F7"/>
          </a:solidFill>
          <a:ln>
            <a:solidFill>
              <a:srgbClr val="D2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776472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55397"/>
                </a:solidFill>
                <a:latin typeface="Arial"/>
              </a:rPr>
              <a:t>1,706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42231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526275"/>
                </a:solidFill>
                <a:latin typeface="Arial"/>
              </a:rPr>
              <a:t>Drug nodes in the drug universe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3703320"/>
            <a:ext cx="2423160" cy="822960"/>
          </a:xfrm>
          <a:prstGeom prst="rect">
            <a:avLst/>
          </a:prstGeom>
          <a:solidFill>
            <a:srgbClr val="F1F7F7"/>
          </a:solidFill>
          <a:ln>
            <a:solidFill>
              <a:srgbClr val="D2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10712" y="3776472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2959A"/>
                </a:solidFill>
                <a:latin typeface="Arial"/>
              </a:rPr>
              <a:t>526,105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4142231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526275"/>
                </a:solidFill>
                <a:latin typeface="Arial"/>
              </a:rPr>
              <a:t>Unique known interaction pairs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703320"/>
            <a:ext cx="2423160" cy="822960"/>
          </a:xfrm>
          <a:prstGeom prst="rect">
            <a:avLst/>
          </a:prstGeom>
          <a:solidFill>
            <a:srgbClr val="F1F7F7"/>
          </a:solidFill>
          <a:ln>
            <a:solidFill>
              <a:srgbClr val="D2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16752" y="3776472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55397"/>
                </a:solidFill>
                <a:latin typeface="Arial"/>
              </a:rPr>
              <a:t>7,456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142231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526275"/>
                </a:solidFill>
                <a:latin typeface="Arial"/>
              </a:rPr>
              <a:t>Knowledge-graph nodes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3703320"/>
            <a:ext cx="2423160" cy="822960"/>
          </a:xfrm>
          <a:prstGeom prst="rect">
            <a:avLst/>
          </a:prstGeom>
          <a:solidFill>
            <a:srgbClr val="F1F7F7"/>
          </a:solidFill>
          <a:ln>
            <a:solidFill>
              <a:srgbClr val="D2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22792" y="3776472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2959A"/>
                </a:solidFill>
                <a:latin typeface="Arial"/>
              </a:rPr>
              <a:t>915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142231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526275"/>
                </a:solidFill>
                <a:latin typeface="Arial"/>
              </a:rPr>
              <a:t>Side-effect labels retained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92040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D98535"/>
                </a:solidFill>
                <a:latin typeface="Arial"/>
              </a:rPr>
              <a:t>Intended use: research and educational decision support only — not a medical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2. METHODOLOGY: END-TO-END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32004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99632"/>
            <a:ext cx="135331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72768" y="6528816"/>
            <a:ext cx="10168128" cy="16459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8832" y="63276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26275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11155680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983480"/>
            <a:ext cx="1069848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23B67"/>
                </a:solidFill>
                <a:latin typeface="Arial"/>
              </a:rPr>
              <a:t>Key design decision: interaction labels are kept separate from graph relations to reduce label leakage into message passing.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2. METHODOLOGY: MODEL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32004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99632"/>
            <a:ext cx="135331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72768" y="6528816"/>
            <a:ext cx="10168128" cy="16459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8832" y="63276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26275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43000"/>
            <a:ext cx="3520440" cy="2011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143000"/>
            <a:ext cx="73152" cy="2011680"/>
          </a:xfrm>
          <a:prstGeom prst="rect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1615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FINGERPRINT 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3227832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Morgan fingerprints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1,024 bits per drug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Logistic regression (SGD)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XGBoost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2011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2011680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21615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GRAPH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581912"/>
            <a:ext cx="3227832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40" b="0" i="0">
                <a:solidFill>
                  <a:srgbClr val="192B3D"/>
                </a:solidFill>
                <a:latin typeface="Arial"/>
              </a:rPr>
              <a:t>R-GCN: relational message passing</a:t>
            </a:r>
          </a:p>
          <a:p>
            <a:pPr algn="l">
              <a:spcAft>
                <a:spcPts val="500"/>
              </a:spcAft>
            </a:pPr>
            <a:r>
              <a:rPr sz="1240" b="0" i="0">
                <a:solidFill>
                  <a:srgbClr val="192B3D"/>
                </a:solidFill>
                <a:latin typeface="Arial"/>
              </a:rPr>
              <a:t>R-GAT: attention over relations</a:t>
            </a:r>
          </a:p>
          <a:p>
            <a:pPr algn="l">
              <a:spcAft>
                <a:spcPts val="500"/>
              </a:spcAft>
            </a:pPr>
            <a:r>
              <a:rPr sz="1240" b="0" i="0">
                <a:solidFill>
                  <a:srgbClr val="192B3D"/>
                </a:solidFill>
                <a:latin typeface="Arial"/>
              </a:rPr>
              <a:t>R-GCN + GIN: molecular graph encoder (not served)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143000"/>
            <a:ext cx="3520440" cy="2011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143000"/>
            <a:ext cx="73152" cy="2011680"/>
          </a:xfrm>
          <a:prstGeom prst="rect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121615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THREE PREDICTION HEADS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581912"/>
            <a:ext cx="3227832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40" b="0" i="0">
                <a:solidFill>
                  <a:srgbClr val="192B3D"/>
                </a:solidFill>
                <a:latin typeface="Arial"/>
              </a:rPr>
              <a:t>1. Interaction probability</a:t>
            </a:r>
          </a:p>
          <a:p>
            <a:pPr algn="l">
              <a:spcAft>
                <a:spcPts val="500"/>
              </a:spcAft>
            </a:pPr>
            <a:r>
              <a:rPr sz="1240" b="0" i="0">
                <a:solidFill>
                  <a:srgbClr val="192B3D"/>
                </a:solidFill>
                <a:latin typeface="Arial"/>
              </a:rPr>
              <a:t>2. One of 86 interaction types</a:t>
            </a:r>
          </a:p>
          <a:p>
            <a:pPr algn="l">
              <a:spcAft>
                <a:spcPts val="500"/>
              </a:spcAft>
            </a:pPr>
            <a:r>
              <a:rPr sz="1240" b="0" i="0">
                <a:solidFill>
                  <a:srgbClr val="192B3D"/>
                </a:solidFill>
                <a:latin typeface="Arial"/>
              </a:rPr>
              <a:t>3. Multi-label probabilities for 915 side effects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23B67"/>
                </a:solidFill>
                <a:latin typeface="Arial"/>
              </a:rPr>
              <a:t>EVALUATION SPLITS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50208"/>
            <a:ext cx="4983480" cy="1371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Random split: interacting pairs divided 80/10/10.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Cold-start: test pairs include at least one drug unseen in training.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520440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23B67"/>
                </a:solidFill>
                <a:latin typeface="Arial"/>
              </a:rPr>
              <a:t>LABEL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950208"/>
            <a:ext cx="5212080" cy="1371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Unrecorded pairs are unlabelled, not safe negatives.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Metrics also use degree-matched unlabelled pairs as a harder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3. IMPLEMENTATION: APPLICATION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32004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99632"/>
            <a:ext cx="135331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72768" y="6528816"/>
            <a:ext cx="10168128" cy="16459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8832" y="63276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26275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606040" cy="2331720"/>
          </a:xfrm>
          <a:prstGeom prst="roundRect">
            <a:avLst/>
          </a:prstGeom>
          <a:solidFill>
            <a:srgbClr val="EAF2F8"/>
          </a:solidFill>
          <a:ln>
            <a:solidFill>
              <a:srgbClr val="C1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088" y="1618488"/>
            <a:ext cx="475488" cy="475488"/>
          </a:xfrm>
          <a:prstGeom prst="ellipse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6184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636776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3B67"/>
                </a:solidFill>
                <a:latin typeface="Arial"/>
              </a:rPr>
              <a:t>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2240280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Search and select 2–20 medications; optional prescription text extraction.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18688" y="2651760"/>
            <a:ext cx="246888" cy="0"/>
          </a:xfrm>
          <a:prstGeom prst="line">
            <a:avLst/>
          </a:prstGeom>
          <a:ln w="25400">
            <a:solidFill>
              <a:srgbClr val="129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1508760"/>
            <a:ext cx="2606040" cy="2331720"/>
          </a:xfrm>
          <a:prstGeom prst="roundRect">
            <a:avLst/>
          </a:prstGeom>
          <a:solidFill>
            <a:srgbClr val="F1F7F7"/>
          </a:solidFill>
          <a:ln>
            <a:solidFill>
              <a:srgbClr val="C1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1880" y="1618488"/>
            <a:ext cx="475488" cy="475488"/>
          </a:xfrm>
          <a:prstGeom prst="ellipse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6184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636776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3B67"/>
                </a:solidFill>
                <a:latin typeface="Arial"/>
              </a:rPr>
              <a:t>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267712"/>
            <a:ext cx="2240280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Score all drug pairs and apply severity and patient-context rules.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79" y="2651760"/>
            <a:ext cx="246889" cy="0"/>
          </a:xfrm>
          <a:prstGeom prst="line">
            <a:avLst/>
          </a:prstGeom>
          <a:ln w="25400">
            <a:solidFill>
              <a:srgbClr val="129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9944" y="1508760"/>
            <a:ext cx="2606040" cy="2331720"/>
          </a:xfrm>
          <a:prstGeom prst="roundRect">
            <a:avLst/>
          </a:prstGeom>
          <a:solidFill>
            <a:srgbClr val="EAF2F8"/>
          </a:solidFill>
          <a:ln>
            <a:solidFill>
              <a:srgbClr val="C1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19672" y="1618488"/>
            <a:ext cx="475488" cy="475488"/>
          </a:xfrm>
          <a:prstGeom prst="ellipse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16184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1636776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3B67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267712"/>
            <a:ext cx="2240280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See regimen risk, flagged pairs, effects, evidence and severity source.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34272" y="2651760"/>
            <a:ext cx="246888" cy="0"/>
          </a:xfrm>
          <a:prstGeom prst="line">
            <a:avLst/>
          </a:prstGeom>
          <a:ln w="25400">
            <a:solidFill>
              <a:srgbClr val="129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17736" y="1508760"/>
            <a:ext cx="2606040" cy="2331720"/>
          </a:xfrm>
          <a:prstGeom prst="roundRect">
            <a:avLst/>
          </a:prstGeom>
          <a:solidFill>
            <a:srgbClr val="F1F7F7"/>
          </a:solidFill>
          <a:ln>
            <a:solidFill>
              <a:srgbClr val="C1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27464" y="1618488"/>
            <a:ext cx="475488" cy="475488"/>
          </a:xfrm>
          <a:prstGeom prst="ellipse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27464" y="16184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1636776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23B67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2267712"/>
            <a:ext cx="2240280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Open the pair path, model-attribution view, evidence and drug cards.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43400"/>
            <a:ext cx="1069848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526275"/>
                </a:solidFill>
                <a:latin typeface="Arial"/>
              </a:rPr>
              <a:t>Other modules: patient-context alerts • knowledge-graph explorer • model analytics • RxNorm normalization • FAERS evidence • safer-alternative suggestions • audit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23B67"/>
                </a:solidFill>
                <a:latin typeface="Arial"/>
              </a:rPr>
              <a:t>Backend: FastAPI  |  Frontend: React + Vite  |  Graph/model layer: PyTorch Geometric + NetworkX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4. RESULTS: EVALUATION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32004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99632"/>
            <a:ext cx="135331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72768" y="6528816"/>
            <a:ext cx="10168128" cy="16459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8832" y="63276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26275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3474720" cy="2057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70432"/>
            <a:ext cx="73152" cy="2057400"/>
          </a:xfrm>
          <a:prstGeom prst="rect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4358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DATA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609344"/>
            <a:ext cx="318211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1,706 drugs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1,454,365 possible pairs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526,105 unique known pairs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~117k biomedical graph edges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70432"/>
            <a:ext cx="3474720" cy="2057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170432"/>
            <a:ext cx="73152" cy="2057400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24358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609344"/>
            <a:ext cx="318211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AUROC and AUPRC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F1 with threshold tuned on validation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Hits@20 / Hits@50 / Hits@100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Auxiliary type and side-effect scores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70432"/>
            <a:ext cx="3474720" cy="2057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170432"/>
            <a:ext cx="73152" cy="2057400"/>
          </a:xfrm>
          <a:prstGeom prst="rect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24358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ROBUSTNESS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609344"/>
            <a:ext cx="318211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40" b="0" i="0">
                <a:solidFill>
                  <a:srgbClr val="192B3D"/>
                </a:solidFill>
                <a:latin typeface="Arial"/>
              </a:rPr>
              <a:t>Random split is easier and may be optimistic.</a:t>
            </a:r>
          </a:p>
          <a:p>
            <a:pPr algn="l">
              <a:spcAft>
                <a:spcPts val="500"/>
              </a:spcAft>
            </a:pPr>
            <a:r>
              <a:rPr sz="1240" b="0" i="0">
                <a:solidFill>
                  <a:srgbClr val="192B3D"/>
                </a:solidFill>
                <a:latin typeface="Arial"/>
              </a:rPr>
              <a:t>Cold-start tests drugs held out from training.</a:t>
            </a:r>
          </a:p>
          <a:p>
            <a:pPr algn="l">
              <a:spcAft>
                <a:spcPts val="500"/>
              </a:spcAft>
            </a:pPr>
            <a:r>
              <a:rPr sz="1240" b="0" i="0">
                <a:solidFill>
                  <a:srgbClr val="192B3D"/>
                </a:solidFill>
                <a:latin typeface="Arial"/>
              </a:rPr>
              <a:t>Degree-matched unlabelled pairs add difficulty.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D98535"/>
                </a:solidFill>
                <a:latin typeface="Arial"/>
              </a:rPr>
              <a:t>Evaluation uses unlabelled pairs as comparison examples — they may include interactions absent from the source databases.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389120"/>
            <a:ext cx="9966960" cy="9144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•  Therefore, metrics are lower-bound-style measures of ranking against recorded labels, not estimates of clinical safety.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•  The model card explicitly states that the system has no prospective clinical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4. RESULTS: INTERACTION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32004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99632"/>
            <a:ext cx="135331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72768" y="6528816"/>
            <a:ext cx="10168128" cy="16459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8832" y="63276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26275"/>
                </a:solidFill>
                <a:latin typeface="Arial"/>
              </a:rPr>
              <a:t>8</a:t>
            </a:r>
          </a:p>
        </p:txBody>
      </p:sp>
      <p:pic>
        <p:nvPicPr>
          <p:cNvPr id="7" name="Picture 6" descr="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7315200" cy="3520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92440" y="1325880"/>
            <a:ext cx="3429000" cy="12344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2440" y="1325880"/>
            <a:ext cx="73152" cy="1234440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1" y="1399032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BEST SERVED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764792"/>
            <a:ext cx="31363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R-GCN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Cold-start AUROC 0.870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92B3D"/>
                </a:solidFill>
                <a:latin typeface="Arial"/>
              </a:rPr>
              <a:t>Cold-start AUPRC 0.863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88920"/>
            <a:ext cx="3429000" cy="12344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2788920"/>
            <a:ext cx="73152" cy="1234440"/>
          </a:xfrm>
          <a:prstGeom prst="rect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2862072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WHY COLD-START?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3227832"/>
            <a:ext cx="31363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Includes drug pairs with at least one drug not seen during training.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69848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23B67"/>
                </a:solidFill>
                <a:latin typeface="Arial"/>
              </a:rPr>
              <a:t>Random-split R-GCN: AUROC 0.992 / AUPRC 0.991  •  Degree-matched cold-start: AUROC 0.843 / AUPRC 0.837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4. RESULTS: EXPLAINABILITY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32004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99632"/>
            <a:ext cx="135331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72768" y="6528816"/>
            <a:ext cx="10168128" cy="16459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8832" y="63276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26275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5349240" cy="1874519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73152" cy="1874519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16152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ILLUSTRATIVE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581912"/>
            <a:ext cx="505663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60" b="0" i="0">
                <a:solidFill>
                  <a:srgbClr val="192B3D"/>
                </a:solidFill>
                <a:latin typeface="Arial"/>
              </a:rPr>
              <a:t>Warfarin + Ibuprofen</a:t>
            </a:r>
          </a:p>
          <a:p>
            <a:pPr algn="l">
              <a:spcAft>
                <a:spcPts val="500"/>
              </a:spcAft>
            </a:pPr>
            <a:r>
              <a:rPr sz="1260" b="0" i="0">
                <a:solidFill>
                  <a:srgbClr val="192B3D"/>
                </a:solidFill>
                <a:latin typeface="Arial"/>
              </a:rPr>
              <a:t>Model score: 0.76</a:t>
            </a:r>
          </a:p>
          <a:p>
            <a:pPr algn="l">
              <a:spcAft>
                <a:spcPts val="500"/>
              </a:spcAft>
            </a:pPr>
            <a:r>
              <a:rPr sz="1260" b="0" i="0">
                <a:solidFill>
                  <a:srgbClr val="192B3D"/>
                </a:solidFill>
                <a:latin typeface="Arial"/>
              </a:rPr>
              <a:t>Top model-attribution neighbour: CYP2C9</a:t>
            </a:r>
          </a:p>
          <a:p>
            <a:pPr algn="l">
              <a:spcAft>
                <a:spcPts val="500"/>
              </a:spcAft>
            </a:pPr>
            <a:r>
              <a:rPr sz="1260" b="0" i="0">
                <a:solidFill>
                  <a:srgbClr val="192B3D"/>
                </a:solidFill>
                <a:latin typeface="Arial"/>
              </a:rPr>
              <a:t>Highest ranked path node: gastrointestinal hemorrhage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143000"/>
            <a:ext cx="5349240" cy="1874519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143000"/>
            <a:ext cx="73152" cy="1874519"/>
          </a:xfrm>
          <a:prstGeom prst="rect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EXPLANATION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81912"/>
            <a:ext cx="505663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20" b="0" i="0">
                <a:solidFill>
                  <a:srgbClr val="192B3D"/>
                </a:solidFill>
                <a:latin typeface="Arial"/>
              </a:rPr>
              <a:t>In 10 curated pairs, the model’s top neighbour was on a KG path in 80%.</a:t>
            </a:r>
          </a:p>
          <a:p>
            <a:pPr algn="l">
              <a:spcAft>
                <a:spcPts val="500"/>
              </a:spcAft>
            </a:pPr>
            <a:r>
              <a:rPr sz="1220" b="0" i="0">
                <a:solidFill>
                  <a:srgbClr val="192B3D"/>
                </a:solidFill>
                <a:latin typeface="Arial"/>
              </a:rPr>
              <a:t>Across 200 test pairs, the top-5 overlap was 11%; explanations are complementary, not identical.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29000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23B67"/>
                </a:solidFill>
                <a:latin typeface="Arial"/>
              </a:rPr>
              <a:t>IMPORTANT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858768"/>
            <a:ext cx="10424160" cy="1463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900"/>
              </a:spcAft>
            </a:pPr>
            <a:r>
              <a:rPr sz="1260" b="0" i="0">
                <a:solidFill>
                  <a:srgbClr val="192B3D"/>
                </a:solidFill>
                <a:latin typeface="Arial"/>
              </a:rPr>
              <a:t>•  No prospective clinical validation; statistical predictions can be incomplete or wrong.</a:t>
            </a:r>
          </a:p>
          <a:p>
            <a:pPr>
              <a:spcAft>
                <a:spcPts val="900"/>
              </a:spcAft>
            </a:pPr>
            <a:r>
              <a:rPr sz="1260" b="0" i="0">
                <a:solidFill>
                  <a:srgbClr val="192B3D"/>
                </a:solidFill>
                <a:latin typeface="Arial"/>
              </a:rPr>
              <a:t>•  No flag does not establish safety. Confirm with an authoritative drug reference and healthcare professional.</a:t>
            </a:r>
          </a:p>
          <a:p>
            <a:pPr>
              <a:spcAft>
                <a:spcPts val="900"/>
              </a:spcAft>
            </a:pPr>
            <a:r>
              <a:rPr sz="1260" b="0" i="0">
                <a:solidFill>
                  <a:srgbClr val="192B3D"/>
                </a:solidFill>
                <a:latin typeface="Arial"/>
              </a:rPr>
              <a:t>•  Severity for pairs without DDInter annotation is a project type-based estimate; evidence sources may be biased or stale.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5. 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32004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99632"/>
            <a:ext cx="135331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72768" y="6528816"/>
            <a:ext cx="10168128" cy="16459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8832" y="63276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26275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303520" cy="2011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73152" cy="2011680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26187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627632"/>
            <a:ext cx="5010912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The project integrates public biomedical data, a knowledge graph, relational GNN predictions, interaction severity, side-effect estimates and explanation paths in a single web application. The R-GCN is the strongest served model among the evaluated options for cold-start interaction ranking.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03520" cy="2011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73152" cy="2011680"/>
          </a:xfrm>
          <a:prstGeom prst="rect">
            <a:avLst/>
          </a:prstGeom>
          <a:solidFill>
            <a:srgbClr val="155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26187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23B67"/>
                </a:solidFill>
                <a:latin typeface="Arial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27632"/>
            <a:ext cx="5010912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Temporal and external validation; better-calibrated and less imbalanced side-effect prediction; expanded drug coverage; clinician review of explanations; clearer evidence freshness and uncertainty indicators.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10149840" cy="777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123B67"/>
                </a:solidFill>
                <a:latin typeface="Georgia"/>
              </a:rPr>
              <a:t>Takeaway: a promising research prototype for review and exploration — not a stand-alone prescribing or medication-safety authority.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55397"/>
                </a:solidFill>
                <a:latin typeface="Georgia"/>
              </a:rPr>
              <a:t>6.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32004"/>
          </a:xfrm>
          <a:prstGeom prst="rect">
            <a:avLst/>
          </a:prstGeom>
          <a:solidFill>
            <a:srgbClr val="129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99632"/>
            <a:ext cx="1353312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72768" y="6528816"/>
            <a:ext cx="10168128" cy="16459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8832" y="63276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26275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43000"/>
            <a:ext cx="10698480" cy="44348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[1] Submitted project package: README.md, USER_GUIDE.md, MODEL_CARD.md and reports/metrics.json.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[2] TDC DrugBank DDI benchmark / DeepDDI subset — interaction labels and drug structures.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[3] PrimeKG — biomedical knowledge graph and linked drug, protein, disease and side-effect relations.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[4] Tatonetti et al. Data-driven prediction of drug effects and interactions. Science Translational Medicine, 2012.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[5] DDInter — curated drug-drug interaction severity annotations.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[6] Schlichtkrull et al. Modeling Relational Data with Graph Convolutional Networks. ESWC, 2018.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[7] Veličković et al. Graph Attention Networks. ICLR, 2018.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[8] Ying et al. GNNExplainer: Generating Explanations for Graph Neural Networks. NeurIPS, 2019.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92B3D"/>
                </a:solidFill>
                <a:latin typeface="Arial"/>
              </a:rPr>
              <a:t>•  [9] PyTorch Geometric documentation: https://pytorch-geometric.readthedocs.io/.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5961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155397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4cd72afe-7796-4e57-9596-7db08167f6f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A98C949DCD064C894F5DFC23C99D23" ma:contentTypeVersion="4" ma:contentTypeDescription="Create a new document." ma:contentTypeScope="" ma:versionID="7b080db785ce7fd0bb198730df526523">
  <xsd:schema xmlns:xsd="http://www.w3.org/2001/XMLSchema" xmlns:xs="http://www.w3.org/2001/XMLSchema" xmlns:p="http://schemas.microsoft.com/office/2006/metadata/properties" xmlns:ns2="4cd72afe-7796-4e57-9596-7db08167f6f7" targetNamespace="http://schemas.microsoft.com/office/2006/metadata/properties" ma:root="true" ma:fieldsID="745217958e760dd5d45665384076e30e" ns2:_="">
    <xsd:import namespace="4cd72afe-7796-4e57-9596-7db08167f6f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d72afe-7796-4e57-9596-7db08167f6f7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4A4B4F-5161-4B16-A8AD-6E52643EF6EC}">
  <ds:schemaRefs>
    <ds:schemaRef ds:uri="http://schemas.microsoft.com/office/2006/metadata/properties"/>
    <ds:schemaRef ds:uri="http://schemas.microsoft.com/office/infopath/2007/PartnerControls"/>
    <ds:schemaRef ds:uri="4cd72afe-7796-4e57-9596-7db08167f6f7"/>
  </ds:schemaRefs>
</ds:datastoreItem>
</file>

<file path=customXml/itemProps2.xml><?xml version="1.0" encoding="utf-8"?>
<ds:datastoreItem xmlns:ds="http://schemas.openxmlformats.org/officeDocument/2006/customXml" ds:itemID="{5458BAC5-7E36-4F89-A68C-521CEEB63C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23AA75-2483-493C-84A3-DAB295E92C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d72afe-7796-4e57-9596-7db08167f6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Microsoft Office PowerPoint</Application>
  <PresentationFormat>Widescreen</PresentationFormat>
  <Paragraphs>134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Georgia</vt:lpstr>
      <vt:lpstr>Montserrat</vt:lpstr>
      <vt:lpstr>Montserrat Medium</vt:lpstr>
      <vt:lpstr>Times New Roman</vt:lpstr>
      <vt:lpstr>Wingdings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Interaction and Adverse-Effect Predictor</dc:title>
  <dc:subject>BE Semester VII Mini Project Seminar</dc:subject>
  <dc:creator>Omer Ovias</dc:creator>
  <cp:keywords>Drug interaction, R-GCN, knowledge graph, adverse effects</cp:keywords>
  <cp:lastModifiedBy>OMER OVIAS HAJI</cp:lastModifiedBy>
  <cp:revision>2</cp:revision>
  <dcterms:created xsi:type="dcterms:W3CDTF">2026-10-06T04:57:14Z</dcterms:created>
  <dcterms:modified xsi:type="dcterms:W3CDTF">2026-10-18T17:47:20Z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475788ACF4A54F6994FB416331234626_11</vt:lpwstr>
  </property>
  <property fmtid="{D5CDD505-2E9C-101B-9397-08002B2CF9AE}" pid="4" name="ContentTypeId">
    <vt:lpwstr>0x01010086A98C949DCD064C894F5DFC23C99D23</vt:lpwstr>
  </property>
</Properties>
</file>